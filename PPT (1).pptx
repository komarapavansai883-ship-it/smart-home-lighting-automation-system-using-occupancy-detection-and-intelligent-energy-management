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Sora Light" panose="020B0604020202020204" charset="0"/>
      <p:regular r:id="rId13"/>
    </p:embeddedFont>
    <p:embeddedFont>
      <p:font typeface="Sora Semi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58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8720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90188" y="501253"/>
            <a:ext cx="4391510" cy="5855494"/>
          </a:xfrm>
          <a:prstGeom prst="rect">
            <a:avLst/>
          </a:prstGeom>
        </p:spPr>
      </p:pic>
      <p:sp>
        <p:nvSpPr>
          <p:cNvPr id="4" name="Text 1"/>
          <p:cNvSpPr/>
          <p:nvPr/>
        </p:nvSpPr>
        <p:spPr>
          <a:xfrm>
            <a:off x="5203794" y="1519833"/>
            <a:ext cx="6355993" cy="296961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Smart Home Lighting Automation System Using Occupancy Detection and Intelligent Energy Management</a:t>
            </a:r>
            <a:endParaRPr lang="en-US" sz="3700" dirty="0"/>
          </a:p>
        </p:txBody>
      </p:sp>
      <p:sp>
        <p:nvSpPr>
          <p:cNvPr id="5" name="Text 2"/>
          <p:cNvSpPr/>
          <p:nvPr/>
        </p:nvSpPr>
        <p:spPr>
          <a:xfrm>
            <a:off x="5203794" y="4760218"/>
            <a:ext cx="6355993" cy="57785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An IoT-based academic project for intelligent, energy-efficient residential lighting control.</a:t>
            </a:r>
            <a:endParaRPr lang="en-US" sz="1400" dirty="0"/>
          </a:p>
        </p:txBody>
      </p:sp>
      <p:sp>
        <p:nvSpPr>
          <p:cNvPr id="6" name="TextBox 5">
            <a:extLst>
              <a:ext uri="{FF2B5EF4-FFF2-40B4-BE49-F238E27FC236}">
                <a16:creationId xmlns:a16="http://schemas.microsoft.com/office/drawing/2014/main" id="{61B80DA8-AFDD-7A1C-C8DD-B2343A3DDE5E}"/>
              </a:ext>
            </a:extLst>
          </p:cNvPr>
          <p:cNvSpPr txBox="1"/>
          <p:nvPr/>
        </p:nvSpPr>
        <p:spPr>
          <a:xfrm>
            <a:off x="7081935" y="6074229"/>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9EB43F9F-7D22-CA9C-E928-ABA776CD136C}"/>
              </a:ext>
            </a:extLst>
          </p:cNvPr>
          <p:cNvSpPr txBox="1"/>
          <p:nvPr/>
        </p:nvSpPr>
        <p:spPr>
          <a:xfrm>
            <a:off x="9548733" y="6245180"/>
            <a:ext cx="4022108" cy="646331"/>
          </a:xfrm>
          <a:prstGeom prst="rect">
            <a:avLst/>
          </a:prstGeom>
          <a:noFill/>
        </p:spPr>
        <p:txBody>
          <a:bodyPr wrap="square" rtlCol="0">
            <a:spAutoFit/>
          </a:bodyPr>
          <a:lstStyle/>
          <a:p>
            <a:r>
              <a:rPr lang="fi-FI"/>
              <a:t>KOMARA PAVAN SAI</a:t>
            </a:r>
            <a:br>
              <a:rPr lang="fi-FI"/>
            </a:br>
            <a:r>
              <a:rPr lang="fi-FI"/>
              <a:t>323129520007</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7698786" y="486271"/>
            <a:ext cx="4413834" cy="5885359"/>
          </a:xfrm>
          <a:prstGeom prst="rect">
            <a:avLst/>
          </a:prstGeom>
        </p:spPr>
      </p:pic>
      <p:sp>
        <p:nvSpPr>
          <p:cNvPr id="4" name="Text 1"/>
          <p:cNvSpPr/>
          <p:nvPr/>
        </p:nvSpPr>
        <p:spPr>
          <a:xfrm>
            <a:off x="631908" y="517227"/>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Problem Statement</a:t>
            </a:r>
            <a:endParaRPr lang="en-US" sz="32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1244104"/>
            <a:ext cx="6355993" cy="1170484"/>
          </a:xfrm>
          <a:prstGeom prst="rect">
            <a:avLst/>
          </a:prstGeom>
        </p:spPr>
      </p:pic>
      <p:sp>
        <p:nvSpPr>
          <p:cNvPr id="6" name="Text 2"/>
          <p:cNvSpPr/>
          <p:nvPr/>
        </p:nvSpPr>
        <p:spPr>
          <a:xfrm>
            <a:off x="885108" y="1421110"/>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Manual Operation</a:t>
            </a:r>
            <a:endParaRPr lang="en-US" sz="1600" dirty="0"/>
          </a:p>
        </p:txBody>
      </p:sp>
      <p:sp>
        <p:nvSpPr>
          <p:cNvPr id="7" name="Text 3"/>
          <p:cNvSpPr/>
          <p:nvPr/>
        </p:nvSpPr>
        <p:spPr>
          <a:xfrm>
            <a:off x="885108" y="1763713"/>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Traditional lighting systems require manual operation, placing the burden of control entirely on the homeowner.</a:t>
            </a:r>
            <a:endParaRPr lang="en-US" sz="12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2552799"/>
            <a:ext cx="6355993" cy="1170484"/>
          </a:xfrm>
          <a:prstGeom prst="rect">
            <a:avLst/>
          </a:prstGeom>
        </p:spPr>
      </p:pic>
      <p:sp>
        <p:nvSpPr>
          <p:cNvPr id="9" name="Text 4"/>
          <p:cNvSpPr/>
          <p:nvPr/>
        </p:nvSpPr>
        <p:spPr>
          <a:xfrm>
            <a:off x="885108" y="2729805"/>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Unoccupied Rooms</a:t>
            </a:r>
            <a:endParaRPr lang="en-US" sz="1600" dirty="0"/>
          </a:p>
        </p:txBody>
      </p:sp>
      <p:sp>
        <p:nvSpPr>
          <p:cNvPr id="10" name="Text 5"/>
          <p:cNvSpPr/>
          <p:nvPr/>
        </p:nvSpPr>
        <p:spPr>
          <a:xfrm>
            <a:off x="885108" y="3072408"/>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Lights frequently remain switched on when rooms are unoccupied, leading to avoidable energy waste.</a:t>
            </a:r>
            <a:endParaRPr lang="en-US" sz="12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3861495"/>
            <a:ext cx="6355993" cy="1170484"/>
          </a:xfrm>
          <a:prstGeom prst="rect">
            <a:avLst/>
          </a:prstGeom>
        </p:spPr>
      </p:pic>
      <p:sp>
        <p:nvSpPr>
          <p:cNvPr id="12" name="Text 6"/>
          <p:cNvSpPr/>
          <p:nvPr/>
        </p:nvSpPr>
        <p:spPr>
          <a:xfrm>
            <a:off x="885108" y="4038501"/>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Wastage</a:t>
            </a:r>
            <a:endParaRPr lang="en-US" sz="1600" dirty="0"/>
          </a:p>
        </p:txBody>
      </p:sp>
      <p:sp>
        <p:nvSpPr>
          <p:cNvPr id="13" name="Text 7"/>
          <p:cNvSpPr/>
          <p:nvPr/>
        </p:nvSpPr>
        <p:spPr>
          <a:xfrm>
            <a:off x="885108" y="4381103"/>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Manual control results in unnecessary electricity consumption and higher utility costs over time.</a:t>
            </a:r>
            <a:endParaRPr lang="en-US" sz="12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5170190"/>
            <a:ext cx="6355993" cy="1170484"/>
          </a:xfrm>
          <a:prstGeom prst="rect">
            <a:avLst/>
          </a:prstGeom>
        </p:spPr>
      </p:pic>
      <p:sp>
        <p:nvSpPr>
          <p:cNvPr id="15" name="Text 8"/>
          <p:cNvSpPr/>
          <p:nvPr/>
        </p:nvSpPr>
        <p:spPr>
          <a:xfrm>
            <a:off x="885108" y="5347196"/>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Need for Intelligence</a:t>
            </a:r>
            <a:endParaRPr lang="en-US" sz="1600" dirty="0"/>
          </a:p>
        </p:txBody>
      </p:sp>
      <p:sp>
        <p:nvSpPr>
          <p:cNvPr id="16" name="Text 9"/>
          <p:cNvSpPr/>
          <p:nvPr/>
        </p:nvSpPr>
        <p:spPr>
          <a:xfrm>
            <a:off x="885108" y="5689798"/>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Homeowners need an intelligent system that automatically controls lighting according to room occupancy while optimizing energy usage.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1024334"/>
            <a:ext cx="10927878" cy="593923"/>
          </a:xfrm>
          <a:prstGeom prst="rect">
            <a:avLst/>
          </a:prstGeom>
          <a:noFill/>
          <a:ln/>
        </p:spPr>
        <p:txBody>
          <a:bodyPr wrap="none" lIns="0" tIns="0" rIns="0" bIns="0" rtlCol="0" anchor="t"/>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Proposed Solution</a:t>
            </a:r>
            <a:endParaRPr lang="en-US" sz="3700" dirty="0"/>
          </a:p>
        </p:txBody>
      </p:sp>
      <p:pic>
        <p:nvPicPr>
          <p:cNvPr id="3" name="Image 0" descr="preencoded.png"/>
          <p:cNvPicPr>
            <a:picLocks noChangeAspect="1"/>
          </p:cNvPicPr>
          <p:nvPr/>
        </p:nvPicPr>
        <p:blipFill>
          <a:blip r:embed="rId3"/>
          <a:stretch>
            <a:fillRect/>
          </a:stretch>
        </p:blipFill>
        <p:spPr>
          <a:xfrm>
            <a:off x="631908" y="2092127"/>
            <a:ext cx="3538350" cy="3538438"/>
          </a:xfrm>
          <a:prstGeom prst="rect">
            <a:avLst/>
          </a:prstGeom>
        </p:spPr>
      </p:pic>
      <p:sp>
        <p:nvSpPr>
          <p:cNvPr id="4" name="Text 1"/>
          <p:cNvSpPr/>
          <p:nvPr/>
        </p:nvSpPr>
        <p:spPr>
          <a:xfrm>
            <a:off x="4617128" y="2349798"/>
            <a:ext cx="6948909"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Intelligent Lighting Automation via IoT</a:t>
            </a:r>
            <a:endParaRPr lang="en-US" sz="1850" dirty="0"/>
          </a:p>
        </p:txBody>
      </p:sp>
      <p:sp>
        <p:nvSpPr>
          <p:cNvPr id="5" name="Text 2"/>
          <p:cNvSpPr/>
          <p:nvPr/>
        </p:nvSpPr>
        <p:spPr>
          <a:xfrm>
            <a:off x="4617128" y="2827139"/>
            <a:ext cx="6948909" cy="866775"/>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The proposed system automatically controls home lighting using occupancy detection and IoT technologies, eliminating the need for manual intervention.</a:t>
            </a:r>
            <a:endParaRPr lang="en-US" sz="1400" dirty="0"/>
          </a:p>
        </p:txBody>
      </p:sp>
      <p:sp>
        <p:nvSpPr>
          <p:cNvPr id="6" name="Text 3"/>
          <p:cNvSpPr/>
          <p:nvPr/>
        </p:nvSpPr>
        <p:spPr>
          <a:xfrm>
            <a:off x="4617128" y="3856335"/>
            <a:ext cx="6948909" cy="1633934"/>
          </a:xfrm>
          <a:prstGeom prst="rect">
            <a:avLst/>
          </a:prstGeom>
          <a:noFill/>
          <a:ln/>
        </p:spPr>
        <p:txBody>
          <a:bodyPr wrap="square" lIns="0" tIns="72219" rIns="0" bIns="0" rtlCol="0" anchor="t">
            <a:normAutofit/>
          </a:bodyPr>
          <a:lstStyle/>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Detect whether a room is occupied or vacant in real time</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Automatically switch lights </a:t>
            </a:r>
            <a:r>
              <a:rPr lang="en-US" sz="1400" b="1" dirty="0">
                <a:solidFill>
                  <a:srgbClr val="3B3535"/>
                </a:solidFill>
                <a:latin typeface="Sora Bold" pitchFamily="34" charset="0"/>
                <a:ea typeface="Sora Bold" pitchFamily="34" charset="-122"/>
                <a:cs typeface="Sora Bold" pitchFamily="34" charset="-120"/>
              </a:rPr>
              <a:t>ON</a:t>
            </a:r>
            <a:r>
              <a:rPr lang="en-US" sz="1400" dirty="0">
                <a:solidFill>
                  <a:srgbClr val="3B3535"/>
                </a:solidFill>
                <a:latin typeface="Sora Light" pitchFamily="34" charset="0"/>
                <a:ea typeface="Sora Light" pitchFamily="34" charset="-122"/>
                <a:cs typeface="Sora Light" pitchFamily="34" charset="-120"/>
              </a:rPr>
              <a:t> when users are present</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Automatically switch lights </a:t>
            </a:r>
            <a:r>
              <a:rPr lang="en-US" sz="1400" b="1" dirty="0">
                <a:solidFill>
                  <a:srgbClr val="3B3535"/>
                </a:solidFill>
                <a:latin typeface="Sora Bold" pitchFamily="34" charset="0"/>
                <a:ea typeface="Sora Bold" pitchFamily="34" charset="-122"/>
                <a:cs typeface="Sora Bold" pitchFamily="34" charset="-120"/>
              </a:rPr>
              <a:t>OFF</a:t>
            </a:r>
            <a:r>
              <a:rPr lang="en-US" sz="1400" dirty="0">
                <a:solidFill>
                  <a:srgbClr val="3B3535"/>
                </a:solidFill>
                <a:latin typeface="Sora Light" pitchFamily="34" charset="0"/>
                <a:ea typeface="Sora Light" pitchFamily="34" charset="-122"/>
                <a:cs typeface="Sora Light" pitchFamily="34" charset="-120"/>
              </a:rPr>
              <a:t> when rooms become unoccupied</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Provide centralized monitoring and control through a secure, user-friendly interface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1908" y="504329"/>
            <a:ext cx="10927878" cy="454620"/>
          </a:xfrm>
          <a:prstGeom prst="rect">
            <a:avLst/>
          </a:prstGeom>
          <a:noFill/>
          <a:ln/>
        </p:spPr>
        <p:txBody>
          <a:bodyPr wrap="none" lIns="0" tIns="0" rIns="0" bIns="0" rtlCol="0" anchor="t"/>
          <a:lstStyle/>
          <a:p>
            <a:pPr marL="0" indent="0" algn="l">
              <a:lnSpc>
                <a:spcPct val="104000"/>
              </a:lnSpc>
              <a:buNone/>
            </a:pPr>
            <a:r>
              <a:rPr lang="en-US" sz="2850" dirty="0">
                <a:solidFill>
                  <a:srgbClr val="1F1E1E"/>
                </a:solidFill>
                <a:latin typeface="Sora SemiBold" pitchFamily="34" charset="0"/>
                <a:ea typeface="Sora SemiBold" pitchFamily="34" charset="-122"/>
                <a:cs typeface="Sora SemiBold" pitchFamily="34" charset="-120"/>
              </a:rPr>
              <a:t>System Architecture and Working</a:t>
            </a:r>
            <a:endParaRPr lang="en-US" sz="2850" dirty="0"/>
          </a:p>
        </p:txBody>
      </p:sp>
      <p:pic>
        <p:nvPicPr>
          <p:cNvPr id="3" name="Image 0" descr="preencoded.png"/>
          <p:cNvPicPr>
            <a:picLocks noChangeAspect="1"/>
          </p:cNvPicPr>
          <p:nvPr/>
        </p:nvPicPr>
        <p:blipFill>
          <a:blip r:embed="rId3"/>
          <a:stretch>
            <a:fillRect/>
          </a:stretch>
        </p:blipFill>
        <p:spPr>
          <a:xfrm>
            <a:off x="676953" y="1170583"/>
            <a:ext cx="10837790" cy="4673600"/>
          </a:xfrm>
          <a:prstGeom prst="rect">
            <a:avLst/>
          </a:prstGeom>
        </p:spPr>
      </p:pic>
      <p:sp>
        <p:nvSpPr>
          <p:cNvPr id="4" name="Text 1"/>
          <p:cNvSpPr/>
          <p:nvPr/>
        </p:nvSpPr>
        <p:spPr>
          <a:xfrm>
            <a:off x="1406245" y="4949697"/>
            <a:ext cx="2587971" cy="32356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Control Lighting</a:t>
            </a:r>
            <a:endParaRPr lang="en-US" sz="2000" dirty="0"/>
          </a:p>
        </p:txBody>
      </p:sp>
      <p:sp>
        <p:nvSpPr>
          <p:cNvPr id="5" name="Text 2"/>
          <p:cNvSpPr/>
          <p:nvPr/>
        </p:nvSpPr>
        <p:spPr>
          <a:xfrm>
            <a:off x="1406245" y="3867834"/>
            <a:ext cx="2587971" cy="323569"/>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Wireless Link</a:t>
            </a:r>
            <a:endParaRPr lang="en-US" sz="2000" dirty="0"/>
          </a:p>
        </p:txBody>
      </p:sp>
      <p:sp>
        <p:nvSpPr>
          <p:cNvPr id="6" name="Text 3"/>
          <p:cNvSpPr/>
          <p:nvPr/>
        </p:nvSpPr>
        <p:spPr>
          <a:xfrm>
            <a:off x="1406245" y="2796899"/>
            <a:ext cx="2587971" cy="323569"/>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Process IoT Data</a:t>
            </a:r>
            <a:endParaRPr lang="en-US" sz="2000" dirty="0"/>
          </a:p>
        </p:txBody>
      </p:sp>
      <p:sp>
        <p:nvSpPr>
          <p:cNvPr id="7" name="Text 4"/>
          <p:cNvSpPr/>
          <p:nvPr/>
        </p:nvSpPr>
        <p:spPr>
          <a:xfrm>
            <a:off x="1406245" y="1715037"/>
            <a:ext cx="2587971" cy="32356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Detect Occupancy</a:t>
            </a:r>
            <a:endParaRPr lang="en-US" sz="2000" dirty="0"/>
          </a:p>
        </p:txBody>
      </p:sp>
      <p:sp>
        <p:nvSpPr>
          <p:cNvPr id="8" name="Text 5"/>
          <p:cNvSpPr/>
          <p:nvPr/>
        </p:nvSpPr>
        <p:spPr>
          <a:xfrm>
            <a:off x="631908" y="5963245"/>
            <a:ext cx="10927878" cy="390327"/>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3B3535"/>
                </a:solidFill>
                <a:latin typeface="Sora Light" pitchFamily="34" charset="0"/>
                <a:ea typeface="Sora Light" pitchFamily="34" charset="-122"/>
                <a:cs typeface="Sora Light" pitchFamily="34" charset="-120"/>
              </a:rPr>
              <a:t>IoT-based occupancy and motion sensors detect user presence and relay data through wireless communication to the automation controller. Lighting devices respond automatically to occupancy conditions, while energy consumption is monitored in real time and surfaced through a web or mobile dashboard.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500360"/>
            <a:ext cx="10927878" cy="547489"/>
          </a:xfrm>
          <a:prstGeom prst="rect">
            <a:avLst/>
          </a:prstGeom>
          <a:noFill/>
          <a:ln/>
        </p:spPr>
        <p:txBody>
          <a:bodyPr wrap="none" lIns="0" tIns="0" rIns="0" bIns="0" rtlCol="0" anchor="t"/>
          <a:lstStyle/>
          <a:p>
            <a:pPr marL="0" indent="0" algn="l">
              <a:lnSpc>
                <a:spcPct val="104000"/>
              </a:lnSpc>
              <a:buNone/>
            </a:pPr>
            <a:r>
              <a:rPr lang="en-US" sz="3400" dirty="0">
                <a:solidFill>
                  <a:srgbClr val="1F1E1E"/>
                </a:solidFill>
                <a:latin typeface="Sora SemiBold" pitchFamily="34" charset="0"/>
                <a:ea typeface="Sora SemiBold" pitchFamily="34" charset="-122"/>
                <a:cs typeface="Sora SemiBold" pitchFamily="34" charset="-120"/>
              </a:rPr>
              <a:t>Key Technologies</a:t>
            </a:r>
            <a:endParaRPr lang="en-US" sz="34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1354733"/>
            <a:ext cx="416014" cy="416024"/>
          </a:xfrm>
          <a:prstGeom prst="rect">
            <a:avLst/>
          </a:prstGeom>
        </p:spPr>
      </p:pic>
      <p:sp>
        <p:nvSpPr>
          <p:cNvPr id="4" name="Text 1"/>
          <p:cNvSpPr/>
          <p:nvPr/>
        </p:nvSpPr>
        <p:spPr>
          <a:xfrm>
            <a:off x="631908"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Internet of Things (IoT)</a:t>
            </a:r>
            <a:endParaRPr lang="en-US" sz="1700" dirty="0"/>
          </a:p>
        </p:txBody>
      </p:sp>
      <p:sp>
        <p:nvSpPr>
          <p:cNvPr id="5" name="Text 2"/>
          <p:cNvSpPr/>
          <p:nvPr/>
        </p:nvSpPr>
        <p:spPr>
          <a:xfrm>
            <a:off x="631908" y="2328168"/>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The foundational technology connecting sensors, controllers, and lighting devices into a unified automation network.</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8430" y="1354733"/>
            <a:ext cx="416014" cy="416024"/>
          </a:xfrm>
          <a:prstGeom prst="rect">
            <a:avLst/>
          </a:prstGeom>
        </p:spPr>
      </p:pic>
      <p:sp>
        <p:nvSpPr>
          <p:cNvPr id="7" name="Text 3"/>
          <p:cNvSpPr/>
          <p:nvPr/>
        </p:nvSpPr>
        <p:spPr>
          <a:xfrm>
            <a:off x="4338430"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Occupancy &amp; Motion Sensors</a:t>
            </a:r>
            <a:endParaRPr lang="en-US" sz="1700" dirty="0"/>
          </a:p>
        </p:txBody>
      </p:sp>
      <p:sp>
        <p:nvSpPr>
          <p:cNvPr id="8" name="Text 4"/>
          <p:cNvSpPr/>
          <p:nvPr/>
        </p:nvSpPr>
        <p:spPr>
          <a:xfrm>
            <a:off x="4338430" y="2328168"/>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Detect human presence in each room to trigger automatic lighting responses in real time.</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4951" y="1354733"/>
            <a:ext cx="416014" cy="416024"/>
          </a:xfrm>
          <a:prstGeom prst="rect">
            <a:avLst/>
          </a:prstGeom>
        </p:spPr>
      </p:pic>
      <p:sp>
        <p:nvSpPr>
          <p:cNvPr id="10" name="Text 5"/>
          <p:cNvSpPr/>
          <p:nvPr/>
        </p:nvSpPr>
        <p:spPr>
          <a:xfrm>
            <a:off x="8044951"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Wireless Communication</a:t>
            </a:r>
            <a:endParaRPr lang="en-US" sz="1700" dirty="0"/>
          </a:p>
        </p:txBody>
      </p:sp>
      <p:sp>
        <p:nvSpPr>
          <p:cNvPr id="11" name="Text 6"/>
          <p:cNvSpPr/>
          <p:nvPr/>
        </p:nvSpPr>
        <p:spPr>
          <a:xfrm>
            <a:off x="8044951" y="2328168"/>
            <a:ext cx="3514736" cy="1023541"/>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Connects all system components — sensors, controllers, and smart lighting devices — without physical wiring constraints.</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1908" y="3658592"/>
            <a:ext cx="416014" cy="416024"/>
          </a:xfrm>
          <a:prstGeom prst="rect">
            <a:avLst/>
          </a:prstGeom>
        </p:spPr>
      </p:pic>
      <p:sp>
        <p:nvSpPr>
          <p:cNvPr id="13" name="Text 7"/>
          <p:cNvSpPr/>
          <p:nvPr/>
        </p:nvSpPr>
        <p:spPr>
          <a:xfrm>
            <a:off x="631908" y="4266406"/>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Smart Lighting Devices</a:t>
            </a:r>
            <a:endParaRPr lang="en-US" sz="1700" dirty="0"/>
          </a:p>
        </p:txBody>
      </p:sp>
      <p:sp>
        <p:nvSpPr>
          <p:cNvPr id="14" name="Text 8"/>
          <p:cNvSpPr/>
          <p:nvPr/>
        </p:nvSpPr>
        <p:spPr>
          <a:xfrm>
            <a:off x="631908" y="4632027"/>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Responsive lighting units that execute ON/OFF commands and support scheduling and remote control.</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8430" y="3658592"/>
            <a:ext cx="416014" cy="416024"/>
          </a:xfrm>
          <a:prstGeom prst="rect">
            <a:avLst/>
          </a:prstGeom>
        </p:spPr>
      </p:pic>
      <p:sp>
        <p:nvSpPr>
          <p:cNvPr id="16" name="Text 9"/>
          <p:cNvSpPr/>
          <p:nvPr/>
        </p:nvSpPr>
        <p:spPr>
          <a:xfrm>
            <a:off x="4338430" y="4266406"/>
            <a:ext cx="3514736" cy="547291"/>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Energy Monitoring &amp; Dashboard</a:t>
            </a:r>
            <a:endParaRPr lang="en-US" sz="1700" dirty="0"/>
          </a:p>
        </p:txBody>
      </p:sp>
      <p:sp>
        <p:nvSpPr>
          <p:cNvPr id="17" name="Text 10"/>
          <p:cNvSpPr/>
          <p:nvPr/>
        </p:nvSpPr>
        <p:spPr>
          <a:xfrm>
            <a:off x="4338430" y="4905673"/>
            <a:ext cx="3514736" cy="1023541"/>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Real-time consumption tracking and a web or mobile dashboard for visualization, analytics, and remote control.</a:t>
            </a:r>
            <a:endParaRPr lang="en-US" sz="1300" dirty="0"/>
          </a:p>
        </p:txBody>
      </p:sp>
      <p:sp>
        <p:nvSpPr>
          <p:cNvPr id="18" name="Text 11"/>
          <p:cNvSpPr/>
          <p:nvPr/>
        </p:nvSpPr>
        <p:spPr>
          <a:xfrm>
            <a:off x="631908" y="6101755"/>
            <a:ext cx="11537463" cy="255885"/>
          </a:xfrm>
          <a:prstGeom prst="rect">
            <a:avLst/>
          </a:prstGeom>
          <a:noFill/>
          <a:ln/>
        </p:spPr>
        <p:txBody>
          <a:bodyPr wrap="none" lIns="0" tIns="0" rIns="0" bIns="0" rtlCol="0" anchor="t"/>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These technologies work together to create an intelligent lighting automation environment.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1908" y="533202"/>
            <a:ext cx="10927878" cy="510282"/>
          </a:xfrm>
          <a:prstGeom prst="rect">
            <a:avLst/>
          </a:prstGeom>
          <a:noFill/>
          <a:ln/>
        </p:spPr>
        <p:txBody>
          <a:bodyPr wrap="none" lIns="0" tIns="0" rIns="0" bIns="0" rtlCol="0" anchor="t"/>
          <a:lstStyle/>
          <a:p>
            <a:pPr marL="0" indent="0" algn="l">
              <a:lnSpc>
                <a:spcPct val="104000"/>
              </a:lnSpc>
              <a:buNone/>
            </a:pPr>
            <a:r>
              <a:rPr lang="en-US" sz="3200" dirty="0">
                <a:solidFill>
                  <a:srgbClr val="1F1E1E"/>
                </a:solidFill>
                <a:latin typeface="Sora SemiBold" pitchFamily="34" charset="0"/>
                <a:ea typeface="Sora SemiBold" pitchFamily="34" charset="-122"/>
                <a:cs typeface="Sora SemiBold" pitchFamily="34" charset="-120"/>
              </a:rPr>
              <a:t>Major System Features</a:t>
            </a:r>
            <a:endParaRPr lang="en-US" sz="3200" dirty="0"/>
          </a:p>
        </p:txBody>
      </p:sp>
      <p:sp>
        <p:nvSpPr>
          <p:cNvPr id="3" name="Shape 1"/>
          <p:cNvSpPr/>
          <p:nvPr/>
        </p:nvSpPr>
        <p:spPr>
          <a:xfrm>
            <a:off x="631908" y="1393329"/>
            <a:ext cx="2570694" cy="1914029"/>
          </a:xfrm>
          <a:prstGeom prst="roundRect">
            <a:avLst>
              <a:gd name="adj" fmla="val 3405"/>
            </a:avLst>
          </a:prstGeom>
          <a:solidFill>
            <a:srgbClr val="F9D2D6"/>
          </a:solidFill>
          <a:ln w="6350">
            <a:solidFill>
              <a:srgbClr val="DFB8BC"/>
            </a:solidFill>
            <a:prstDash val="solid"/>
          </a:ln>
        </p:spPr>
      </p:sp>
      <p:sp>
        <p:nvSpPr>
          <p:cNvPr id="4" name="Text 2"/>
          <p:cNvSpPr/>
          <p:nvPr/>
        </p:nvSpPr>
        <p:spPr>
          <a:xfrm>
            <a:off x="793333" y="155475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Automatic ON/OFF Control</a:t>
            </a:r>
            <a:endParaRPr lang="en-US" sz="1600" dirty="0"/>
          </a:p>
        </p:txBody>
      </p:sp>
      <p:sp>
        <p:nvSpPr>
          <p:cNvPr id="5" name="Text 3"/>
          <p:cNvSpPr/>
          <p:nvPr/>
        </p:nvSpPr>
        <p:spPr>
          <a:xfrm>
            <a:off x="793333" y="2198390"/>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Lights respond instantly to occupancy without user input.</a:t>
            </a:r>
            <a:endParaRPr lang="en-US" sz="1200" dirty="0"/>
          </a:p>
        </p:txBody>
      </p:sp>
      <p:sp>
        <p:nvSpPr>
          <p:cNvPr id="6" name="Shape 4"/>
          <p:cNvSpPr/>
          <p:nvPr/>
        </p:nvSpPr>
        <p:spPr>
          <a:xfrm>
            <a:off x="3335849" y="1393329"/>
            <a:ext cx="2570793" cy="1914029"/>
          </a:xfrm>
          <a:prstGeom prst="roundRect">
            <a:avLst>
              <a:gd name="adj" fmla="val 3405"/>
            </a:avLst>
          </a:prstGeom>
          <a:solidFill>
            <a:srgbClr val="F9D2D6"/>
          </a:solidFill>
          <a:ln w="6350">
            <a:solidFill>
              <a:srgbClr val="DFB8BC"/>
            </a:solidFill>
            <a:prstDash val="solid"/>
          </a:ln>
        </p:spPr>
      </p:sp>
      <p:sp>
        <p:nvSpPr>
          <p:cNvPr id="7" name="Text 5"/>
          <p:cNvSpPr/>
          <p:nvPr/>
        </p:nvSpPr>
        <p:spPr>
          <a:xfrm>
            <a:off x="3497274" y="1554758"/>
            <a:ext cx="2247943" cy="765572"/>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Real-Time Occupancy Detection</a:t>
            </a:r>
            <a:endParaRPr lang="en-US" sz="1600" dirty="0"/>
          </a:p>
        </p:txBody>
      </p:sp>
      <p:sp>
        <p:nvSpPr>
          <p:cNvPr id="8" name="Text 6"/>
          <p:cNvSpPr/>
          <p:nvPr/>
        </p:nvSpPr>
        <p:spPr>
          <a:xfrm>
            <a:off x="3497274" y="245358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Continuous sensor monitoring of each room's occupancy state.</a:t>
            </a:r>
            <a:endParaRPr lang="en-US" sz="1200" dirty="0"/>
          </a:p>
        </p:txBody>
      </p:sp>
      <p:sp>
        <p:nvSpPr>
          <p:cNvPr id="9" name="Shape 7"/>
          <p:cNvSpPr/>
          <p:nvPr/>
        </p:nvSpPr>
        <p:spPr>
          <a:xfrm>
            <a:off x="631908" y="3440609"/>
            <a:ext cx="2570694" cy="1658838"/>
          </a:xfrm>
          <a:prstGeom prst="roundRect">
            <a:avLst>
              <a:gd name="adj" fmla="val 3928"/>
            </a:avLst>
          </a:prstGeom>
          <a:solidFill>
            <a:srgbClr val="F9D2D6"/>
          </a:solidFill>
          <a:ln w="6350">
            <a:solidFill>
              <a:srgbClr val="DFB8BC"/>
            </a:solidFill>
            <a:prstDash val="solid"/>
          </a:ln>
        </p:spPr>
      </p:sp>
      <p:sp>
        <p:nvSpPr>
          <p:cNvPr id="10" name="Text 8"/>
          <p:cNvSpPr/>
          <p:nvPr/>
        </p:nvSpPr>
        <p:spPr>
          <a:xfrm>
            <a:off x="793333" y="360203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Room-Wise Status Monitoring</a:t>
            </a:r>
            <a:endParaRPr lang="en-US" sz="1600" dirty="0"/>
          </a:p>
        </p:txBody>
      </p:sp>
      <p:sp>
        <p:nvSpPr>
          <p:cNvPr id="11" name="Text 9"/>
          <p:cNvSpPr/>
          <p:nvPr/>
        </p:nvSpPr>
        <p:spPr>
          <a:xfrm>
            <a:off x="793333" y="4245670"/>
            <a:ext cx="2247844" cy="461566"/>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Individual room lighting status visible at a glance.</a:t>
            </a:r>
            <a:endParaRPr lang="en-US" sz="1200" dirty="0"/>
          </a:p>
        </p:txBody>
      </p:sp>
      <p:sp>
        <p:nvSpPr>
          <p:cNvPr id="12" name="Shape 10"/>
          <p:cNvSpPr/>
          <p:nvPr/>
        </p:nvSpPr>
        <p:spPr>
          <a:xfrm>
            <a:off x="3335849" y="3440609"/>
            <a:ext cx="2570793" cy="1658838"/>
          </a:xfrm>
          <a:prstGeom prst="roundRect">
            <a:avLst>
              <a:gd name="adj" fmla="val 3928"/>
            </a:avLst>
          </a:prstGeom>
          <a:solidFill>
            <a:srgbClr val="F9D2D6"/>
          </a:solidFill>
          <a:ln w="6350">
            <a:solidFill>
              <a:srgbClr val="DFB8BC"/>
            </a:solidFill>
            <a:prstDash val="solid"/>
          </a:ln>
        </p:spPr>
      </p:sp>
      <p:sp>
        <p:nvSpPr>
          <p:cNvPr id="13" name="Text 11"/>
          <p:cNvSpPr/>
          <p:nvPr/>
        </p:nvSpPr>
        <p:spPr>
          <a:xfrm>
            <a:off x="3497274" y="3602038"/>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Consumption Monitoring</a:t>
            </a:r>
            <a:endParaRPr lang="en-US" sz="1600" dirty="0"/>
          </a:p>
        </p:txBody>
      </p:sp>
      <p:sp>
        <p:nvSpPr>
          <p:cNvPr id="14" name="Text 12"/>
          <p:cNvSpPr/>
          <p:nvPr/>
        </p:nvSpPr>
        <p:spPr>
          <a:xfrm>
            <a:off x="3497274" y="424567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Track electricity usage per device and per room in real time.</a:t>
            </a:r>
            <a:endParaRPr lang="en-US" sz="1200" dirty="0"/>
          </a:p>
        </p:txBody>
      </p:sp>
      <p:sp>
        <p:nvSpPr>
          <p:cNvPr id="15" name="Shape 13"/>
          <p:cNvSpPr/>
          <p:nvPr/>
        </p:nvSpPr>
        <p:spPr>
          <a:xfrm>
            <a:off x="631908" y="5232698"/>
            <a:ext cx="5274734" cy="942082"/>
          </a:xfrm>
          <a:prstGeom prst="roundRect">
            <a:avLst>
              <a:gd name="adj" fmla="val 6917"/>
            </a:avLst>
          </a:prstGeom>
          <a:solidFill>
            <a:srgbClr val="F9D2D6"/>
          </a:solidFill>
          <a:ln w="6350">
            <a:solidFill>
              <a:srgbClr val="DFB8BC"/>
            </a:solidFill>
            <a:prstDash val="solid"/>
          </a:ln>
        </p:spPr>
      </p:sp>
      <p:sp>
        <p:nvSpPr>
          <p:cNvPr id="16" name="Text 14"/>
          <p:cNvSpPr/>
          <p:nvPr/>
        </p:nvSpPr>
        <p:spPr>
          <a:xfrm>
            <a:off x="793333" y="5394127"/>
            <a:ext cx="4951884" cy="255191"/>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Lighting Schedules</a:t>
            </a:r>
            <a:endParaRPr lang="en-US" sz="1600" dirty="0"/>
          </a:p>
        </p:txBody>
      </p:sp>
      <p:sp>
        <p:nvSpPr>
          <p:cNvPr id="17" name="Text 15"/>
          <p:cNvSpPr/>
          <p:nvPr/>
        </p:nvSpPr>
        <p:spPr>
          <a:xfrm>
            <a:off x="793333" y="5782568"/>
            <a:ext cx="4951884" cy="230783"/>
          </a:xfrm>
          <a:prstGeom prst="rect">
            <a:avLst/>
          </a:prstGeom>
          <a:noFill/>
          <a:ln/>
        </p:spPr>
        <p:txBody>
          <a:bodyPr wrap="none" lIns="0" tIns="0" rIns="0" bIns="0" rtlCol="0" anchor="t"/>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Pre-configure lighting timers for routine automation.</a:t>
            </a:r>
            <a:endParaRPr lang="en-US" sz="1200" dirty="0"/>
          </a:p>
        </p:txBody>
      </p:sp>
      <p:sp>
        <p:nvSpPr>
          <p:cNvPr id="18" name="Shape 16"/>
          <p:cNvSpPr/>
          <p:nvPr/>
        </p:nvSpPr>
        <p:spPr>
          <a:xfrm>
            <a:off x="6291403" y="1393329"/>
            <a:ext cx="2570694" cy="1658838"/>
          </a:xfrm>
          <a:prstGeom prst="roundRect">
            <a:avLst>
              <a:gd name="adj" fmla="val 3928"/>
            </a:avLst>
          </a:prstGeom>
          <a:solidFill>
            <a:srgbClr val="F9D2D6"/>
          </a:solidFill>
          <a:ln w="6350">
            <a:solidFill>
              <a:srgbClr val="DFB8BC"/>
            </a:solidFill>
            <a:prstDash val="solid"/>
          </a:ln>
        </p:spPr>
      </p:sp>
      <p:sp>
        <p:nvSpPr>
          <p:cNvPr id="19" name="Text 17"/>
          <p:cNvSpPr/>
          <p:nvPr/>
        </p:nvSpPr>
        <p:spPr>
          <a:xfrm>
            <a:off x="6452828" y="155475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Remote Lighting Control</a:t>
            </a:r>
            <a:endParaRPr lang="en-US" sz="1600" dirty="0"/>
          </a:p>
        </p:txBody>
      </p:sp>
      <p:sp>
        <p:nvSpPr>
          <p:cNvPr id="20" name="Text 18"/>
          <p:cNvSpPr/>
          <p:nvPr/>
        </p:nvSpPr>
        <p:spPr>
          <a:xfrm>
            <a:off x="6452828" y="2198390"/>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Control any light from anywhere via the web or mobile interface.</a:t>
            </a:r>
            <a:endParaRPr lang="en-US" sz="1200" dirty="0"/>
          </a:p>
        </p:txBody>
      </p:sp>
      <p:sp>
        <p:nvSpPr>
          <p:cNvPr id="21" name="Shape 19"/>
          <p:cNvSpPr/>
          <p:nvPr/>
        </p:nvSpPr>
        <p:spPr>
          <a:xfrm>
            <a:off x="8995344" y="1393329"/>
            <a:ext cx="2570793" cy="1658838"/>
          </a:xfrm>
          <a:prstGeom prst="roundRect">
            <a:avLst>
              <a:gd name="adj" fmla="val 3928"/>
            </a:avLst>
          </a:prstGeom>
          <a:solidFill>
            <a:srgbClr val="F9D2D6"/>
          </a:solidFill>
          <a:ln w="6350">
            <a:solidFill>
              <a:srgbClr val="DFB8BC"/>
            </a:solidFill>
            <a:prstDash val="solid"/>
          </a:ln>
        </p:spPr>
      </p:sp>
      <p:sp>
        <p:nvSpPr>
          <p:cNvPr id="22" name="Text 20"/>
          <p:cNvSpPr/>
          <p:nvPr/>
        </p:nvSpPr>
        <p:spPr>
          <a:xfrm>
            <a:off x="9156769" y="1554758"/>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Device Activity Monitoring</a:t>
            </a:r>
            <a:endParaRPr lang="en-US" sz="1600" dirty="0"/>
          </a:p>
        </p:txBody>
      </p:sp>
      <p:sp>
        <p:nvSpPr>
          <p:cNvPr id="23" name="Text 21"/>
          <p:cNvSpPr/>
          <p:nvPr/>
        </p:nvSpPr>
        <p:spPr>
          <a:xfrm>
            <a:off x="9156769" y="219839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Log and review the activity history of all connected devices.</a:t>
            </a:r>
            <a:endParaRPr lang="en-US" sz="1200" dirty="0"/>
          </a:p>
        </p:txBody>
      </p:sp>
      <p:sp>
        <p:nvSpPr>
          <p:cNvPr id="24" name="Shape 22"/>
          <p:cNvSpPr/>
          <p:nvPr/>
        </p:nvSpPr>
        <p:spPr>
          <a:xfrm>
            <a:off x="6291403" y="3185418"/>
            <a:ext cx="2570694" cy="1658838"/>
          </a:xfrm>
          <a:prstGeom prst="roundRect">
            <a:avLst>
              <a:gd name="adj" fmla="val 3928"/>
            </a:avLst>
          </a:prstGeom>
          <a:solidFill>
            <a:srgbClr val="F9D2D6"/>
          </a:solidFill>
          <a:ln w="6350">
            <a:solidFill>
              <a:srgbClr val="DFB8BC"/>
            </a:solidFill>
            <a:prstDash val="solid"/>
          </a:ln>
        </p:spPr>
      </p:sp>
      <p:sp>
        <p:nvSpPr>
          <p:cNvPr id="25" name="Text 23"/>
          <p:cNvSpPr/>
          <p:nvPr/>
        </p:nvSpPr>
        <p:spPr>
          <a:xfrm>
            <a:off x="6452828" y="3346847"/>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Usage Analytics &amp; Reports</a:t>
            </a:r>
            <a:endParaRPr lang="en-US" sz="1600" dirty="0"/>
          </a:p>
        </p:txBody>
      </p:sp>
      <p:sp>
        <p:nvSpPr>
          <p:cNvPr id="26" name="Text 24"/>
          <p:cNvSpPr/>
          <p:nvPr/>
        </p:nvSpPr>
        <p:spPr>
          <a:xfrm>
            <a:off x="6452828" y="3990479"/>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Detailed energy reports and usage analytics for informed decisions.</a:t>
            </a:r>
            <a:endParaRPr lang="en-US" sz="1200" dirty="0"/>
          </a:p>
        </p:txBody>
      </p:sp>
      <p:sp>
        <p:nvSpPr>
          <p:cNvPr id="27" name="Shape 25"/>
          <p:cNvSpPr/>
          <p:nvPr/>
        </p:nvSpPr>
        <p:spPr>
          <a:xfrm>
            <a:off x="8995344" y="3185418"/>
            <a:ext cx="2570793" cy="1658838"/>
          </a:xfrm>
          <a:prstGeom prst="roundRect">
            <a:avLst>
              <a:gd name="adj" fmla="val 3928"/>
            </a:avLst>
          </a:prstGeom>
          <a:solidFill>
            <a:srgbClr val="F9D2D6"/>
          </a:solidFill>
          <a:ln w="6350">
            <a:solidFill>
              <a:srgbClr val="DFB8BC"/>
            </a:solidFill>
            <a:prstDash val="solid"/>
          </a:ln>
        </p:spPr>
      </p:sp>
      <p:sp>
        <p:nvSpPr>
          <p:cNvPr id="28" name="Text 26"/>
          <p:cNvSpPr/>
          <p:nvPr/>
        </p:nvSpPr>
        <p:spPr>
          <a:xfrm>
            <a:off x="9156769" y="3346847"/>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Centralized Management</a:t>
            </a:r>
            <a:endParaRPr lang="en-US" sz="1600" dirty="0"/>
          </a:p>
        </p:txBody>
      </p:sp>
      <p:sp>
        <p:nvSpPr>
          <p:cNvPr id="29" name="Text 27"/>
          <p:cNvSpPr/>
          <p:nvPr/>
        </p:nvSpPr>
        <p:spPr>
          <a:xfrm>
            <a:off x="9156769" y="3990479"/>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All rooms and devices managed from a single unified platform.</a:t>
            </a:r>
            <a:endParaRPr lang="en-US" sz="1200" dirty="0"/>
          </a:p>
        </p:txBody>
      </p:sp>
      <p:sp>
        <p:nvSpPr>
          <p:cNvPr id="30" name="Shape 28"/>
          <p:cNvSpPr/>
          <p:nvPr/>
        </p:nvSpPr>
        <p:spPr>
          <a:xfrm>
            <a:off x="6291403" y="4977507"/>
            <a:ext cx="5274734" cy="942082"/>
          </a:xfrm>
          <a:prstGeom prst="roundRect">
            <a:avLst>
              <a:gd name="adj" fmla="val 6917"/>
            </a:avLst>
          </a:prstGeom>
          <a:solidFill>
            <a:srgbClr val="F9D2D6"/>
          </a:solidFill>
          <a:ln w="6350">
            <a:solidFill>
              <a:srgbClr val="DFB8BC"/>
            </a:solidFill>
            <a:prstDash val="solid"/>
          </a:ln>
        </p:spPr>
      </p:sp>
      <p:sp>
        <p:nvSpPr>
          <p:cNvPr id="31" name="Text 29"/>
          <p:cNvSpPr/>
          <p:nvPr/>
        </p:nvSpPr>
        <p:spPr>
          <a:xfrm>
            <a:off x="6452828" y="5138936"/>
            <a:ext cx="4951884" cy="255191"/>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Secure &amp; User-Friendly</a:t>
            </a:r>
            <a:endParaRPr lang="en-US" sz="1600" dirty="0"/>
          </a:p>
        </p:txBody>
      </p:sp>
      <p:sp>
        <p:nvSpPr>
          <p:cNvPr id="32" name="Text 30"/>
          <p:cNvSpPr/>
          <p:nvPr/>
        </p:nvSpPr>
        <p:spPr>
          <a:xfrm>
            <a:off x="6452828" y="5527377"/>
            <a:ext cx="4951884" cy="230783"/>
          </a:xfrm>
          <a:prstGeom prst="rect">
            <a:avLst/>
          </a:prstGeom>
          <a:noFill/>
          <a:ln/>
        </p:spPr>
        <p:txBody>
          <a:bodyPr wrap="none" lIns="0" tIns="0" rIns="0" bIns="0" rtlCol="0" anchor="t"/>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Designed for ease of use with robust access security.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1908" y="496491"/>
            <a:ext cx="10927878"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Dashboard and Analytics</a:t>
            </a:r>
            <a:endParaRPr lang="en-US" sz="1850" dirty="0"/>
          </a:p>
        </p:txBody>
      </p:sp>
      <p:pic>
        <p:nvPicPr>
          <p:cNvPr id="3" name="Image 0" descr="preencoded.png"/>
          <p:cNvPicPr>
            <a:picLocks noChangeAspect="1"/>
          </p:cNvPicPr>
          <p:nvPr/>
        </p:nvPicPr>
        <p:blipFill>
          <a:blip r:embed="rId3"/>
          <a:stretch>
            <a:fillRect/>
          </a:stretch>
        </p:blipFill>
        <p:spPr>
          <a:xfrm>
            <a:off x="631908" y="911721"/>
            <a:ext cx="5911206" cy="5911354"/>
          </a:xfrm>
          <a:prstGeom prst="rect">
            <a:avLst/>
          </a:prstGeom>
        </p:spPr>
      </p:pic>
      <p:sp>
        <p:nvSpPr>
          <p:cNvPr id="4" name="Text 1"/>
          <p:cNvSpPr/>
          <p:nvPr/>
        </p:nvSpPr>
        <p:spPr>
          <a:xfrm>
            <a:off x="6769724" y="3007916"/>
            <a:ext cx="4796313"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What the Dashboard Provides</a:t>
            </a:r>
            <a:endParaRPr lang="en-US" sz="900" dirty="0"/>
          </a:p>
        </p:txBody>
      </p:sp>
      <p:sp>
        <p:nvSpPr>
          <p:cNvPr id="5" name="Text 2"/>
          <p:cNvSpPr/>
          <p:nvPr/>
        </p:nvSpPr>
        <p:spPr>
          <a:xfrm>
            <a:off x="6769724" y="3201392"/>
            <a:ext cx="5405898" cy="108347"/>
          </a:xfrm>
          <a:prstGeom prst="rect">
            <a:avLst/>
          </a:prstGeom>
          <a:noFill/>
          <a:ln/>
        </p:spPr>
        <p:txBody>
          <a:bodyPr wrap="none" lIns="0" tIns="0" rIns="0" bIns="0" rtlCol="0" anchor="t"/>
          <a:lstStyle/>
          <a:p>
            <a:pPr marL="0" indent="0" algn="l">
              <a:lnSpc>
                <a:spcPct val="100000"/>
              </a:lnSpc>
              <a:buNone/>
            </a:pPr>
            <a:r>
              <a:rPr lang="en-US" sz="700" dirty="0">
                <a:solidFill>
                  <a:srgbClr val="3B3535"/>
                </a:solidFill>
                <a:latin typeface="Sora Light" pitchFamily="34" charset="0"/>
                <a:ea typeface="Sora Light" pitchFamily="34" charset="-122"/>
                <a:cs typeface="Sora Light" pitchFamily="34" charset="-120"/>
              </a:rPr>
              <a:t>The centralized dashboard gives users complete visibility and control over their lighting system:</a:t>
            </a:r>
            <a:endParaRPr lang="en-US" sz="700" dirty="0"/>
          </a:p>
        </p:txBody>
      </p:sp>
      <p:sp>
        <p:nvSpPr>
          <p:cNvPr id="6" name="Text 3"/>
          <p:cNvSpPr/>
          <p:nvPr/>
        </p:nvSpPr>
        <p:spPr>
          <a:xfrm>
            <a:off x="6769724" y="3350320"/>
            <a:ext cx="4796313" cy="977205"/>
          </a:xfrm>
          <a:prstGeom prst="rect">
            <a:avLst/>
          </a:prstGeom>
          <a:noFill/>
          <a:ln/>
        </p:spPr>
        <p:txBody>
          <a:bodyPr wrap="square" lIns="0" tIns="36109" rIns="0" bIns="0" rtlCol="0" anchor="t">
            <a:normAutofit/>
          </a:bodyPr>
          <a:lstStyle/>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Current room occupancy status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status for individual rooms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schedules and timers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Energy consumption information</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Device activity logs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usage analytics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Energy usage reports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Remote control options</a:t>
            </a:r>
            <a:endParaRPr lang="en-US" sz="700" dirty="0"/>
          </a:p>
        </p:txBody>
      </p:sp>
      <p:sp>
        <p:nvSpPr>
          <p:cNvPr id="7" name="Shape 4"/>
          <p:cNvSpPr/>
          <p:nvPr/>
        </p:nvSpPr>
        <p:spPr>
          <a:xfrm>
            <a:off x="6769724" y="4378226"/>
            <a:ext cx="4796313" cy="342900"/>
          </a:xfrm>
          <a:prstGeom prst="roundRect">
            <a:avLst>
              <a:gd name="adj" fmla="val 11057"/>
            </a:avLst>
          </a:prstGeom>
          <a:solidFill>
            <a:srgbClr val="F9D2D6"/>
          </a:solidFill>
          <a:ln/>
        </p:spPr>
      </p:sp>
      <p:pic>
        <p:nvPicPr>
          <p:cNvPr id="8" name="Image 1" descr="preencoded.png"/>
          <p:cNvPicPr>
            <a:picLocks noChangeAspect="1"/>
          </p:cNvPicPr>
          <p:nvPr/>
        </p:nvPicPr>
        <p:blipFill>
          <a:blip r:embed="rId4"/>
          <a:stretch>
            <a:fillRect/>
          </a:stretch>
        </p:blipFill>
        <p:spPr>
          <a:xfrm>
            <a:off x="6859912" y="4449366"/>
            <a:ext cx="112809" cy="90190"/>
          </a:xfrm>
          <a:prstGeom prst="rect">
            <a:avLst/>
          </a:prstGeom>
        </p:spPr>
      </p:pic>
      <p:sp>
        <p:nvSpPr>
          <p:cNvPr id="9" name="Text 5"/>
          <p:cNvSpPr/>
          <p:nvPr/>
        </p:nvSpPr>
        <p:spPr>
          <a:xfrm>
            <a:off x="7062908" y="4441329"/>
            <a:ext cx="4412941" cy="21669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000000"/>
                </a:solidFill>
                <a:latin typeface="Sora Light" pitchFamily="34" charset="0"/>
                <a:ea typeface="Sora Light" pitchFamily="34" charset="-122"/>
                <a:cs typeface="Sora Light" pitchFamily="34" charset="-120"/>
              </a:rPr>
              <a:t>These analytics help users understand and optimize electricity consumption across their entire home.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554732"/>
            <a:ext cx="10927878" cy="584597"/>
          </a:xfrm>
          <a:prstGeom prst="rect">
            <a:avLst/>
          </a:prstGeom>
          <a:noFill/>
          <a:ln/>
        </p:spPr>
        <p:txBody>
          <a:bodyPr wrap="none" lIns="0" tIns="0" rIns="0" bIns="0" rtlCol="0" anchor="t"/>
          <a:lstStyle/>
          <a:p>
            <a:pPr marL="0" indent="0" algn="l">
              <a:lnSpc>
                <a:spcPct val="104000"/>
              </a:lnSpc>
              <a:buNone/>
            </a:pPr>
            <a:r>
              <a:rPr lang="en-US" sz="3650" dirty="0">
                <a:solidFill>
                  <a:srgbClr val="1F1E1E"/>
                </a:solidFill>
                <a:latin typeface="Sora SemiBold" pitchFamily="34" charset="0"/>
                <a:ea typeface="Sora SemiBold" pitchFamily="34" charset="-122"/>
                <a:cs typeface="Sora SemiBold" pitchFamily="34" charset="-120"/>
              </a:rPr>
              <a:t>Benefits and Energy Management</a:t>
            </a:r>
            <a:endParaRPr lang="en-US" sz="3650" dirty="0"/>
          </a:p>
        </p:txBody>
      </p:sp>
      <p:sp>
        <p:nvSpPr>
          <p:cNvPr id="3" name="Shape 1"/>
          <p:cNvSpPr/>
          <p:nvPr/>
        </p:nvSpPr>
        <p:spPr>
          <a:xfrm>
            <a:off x="631908" y="1489174"/>
            <a:ext cx="3525948" cy="2601615"/>
          </a:xfrm>
          <a:prstGeom prst="roundRect">
            <a:avLst>
              <a:gd name="adj" fmla="val 2869"/>
            </a:avLst>
          </a:prstGeom>
          <a:solidFill>
            <a:srgbClr val="F9D2D6"/>
          </a:solidFill>
          <a:ln w="6350">
            <a:solidFill>
              <a:srgbClr val="DFB8BC"/>
            </a:solidFill>
            <a:prstDash val="solid"/>
          </a:ln>
        </p:spPr>
      </p:sp>
      <p:sp>
        <p:nvSpPr>
          <p:cNvPr id="4" name="Shape 2"/>
          <p:cNvSpPr/>
          <p:nvPr/>
        </p:nvSpPr>
        <p:spPr>
          <a:xfrm>
            <a:off x="815955" y="1673225"/>
            <a:ext cx="533089" cy="533102"/>
          </a:xfrm>
          <a:prstGeom prst="ellipse">
            <a:avLst/>
          </a:prstGeom>
          <a:solidFill>
            <a:srgbClr val="DA1B2E"/>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497" y="1819771"/>
            <a:ext cx="239905" cy="239911"/>
          </a:xfrm>
          <a:prstGeom prst="rect">
            <a:avLst/>
          </a:prstGeom>
        </p:spPr>
      </p:pic>
      <p:sp>
        <p:nvSpPr>
          <p:cNvPr id="6" name="Text 3"/>
          <p:cNvSpPr/>
          <p:nvPr/>
        </p:nvSpPr>
        <p:spPr>
          <a:xfrm>
            <a:off x="815955" y="2381250"/>
            <a:ext cx="31578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Reduces Energy Waste</a:t>
            </a:r>
            <a:endParaRPr lang="en-US" sz="1800" dirty="0"/>
          </a:p>
        </p:txBody>
      </p:sp>
      <p:sp>
        <p:nvSpPr>
          <p:cNvPr id="7" name="Text 4"/>
          <p:cNvSpPr/>
          <p:nvPr/>
        </p:nvSpPr>
        <p:spPr>
          <a:xfrm>
            <a:off x="815955" y="2778423"/>
            <a:ext cx="3157855" cy="1128316"/>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Eliminates unnecessary lighting usage and minimizes electricity wastage through automatic control.</a:t>
            </a:r>
            <a:endParaRPr lang="en-US" sz="1350" dirty="0"/>
          </a:p>
        </p:txBody>
      </p:sp>
      <p:sp>
        <p:nvSpPr>
          <p:cNvPr id="8" name="Shape 5"/>
          <p:cNvSpPr/>
          <p:nvPr/>
        </p:nvSpPr>
        <p:spPr>
          <a:xfrm>
            <a:off x="4332774" y="1489174"/>
            <a:ext cx="3526047" cy="2601615"/>
          </a:xfrm>
          <a:prstGeom prst="roundRect">
            <a:avLst>
              <a:gd name="adj" fmla="val 2869"/>
            </a:avLst>
          </a:prstGeom>
          <a:solidFill>
            <a:srgbClr val="F9D2D6"/>
          </a:solidFill>
          <a:ln w="6350">
            <a:solidFill>
              <a:srgbClr val="DFB8BC"/>
            </a:solidFill>
            <a:prstDash val="solid"/>
          </a:ln>
        </p:spPr>
      </p:sp>
      <p:sp>
        <p:nvSpPr>
          <p:cNvPr id="9" name="Shape 6"/>
          <p:cNvSpPr/>
          <p:nvPr/>
        </p:nvSpPr>
        <p:spPr>
          <a:xfrm>
            <a:off x="4516821" y="1673225"/>
            <a:ext cx="533089" cy="533102"/>
          </a:xfrm>
          <a:prstGeom prst="ellipse">
            <a:avLst/>
          </a:prstGeom>
          <a:solidFill>
            <a:srgbClr val="DA1B2E"/>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3363" y="1819771"/>
            <a:ext cx="239905" cy="239911"/>
          </a:xfrm>
          <a:prstGeom prst="rect">
            <a:avLst/>
          </a:prstGeom>
        </p:spPr>
      </p:pic>
      <p:sp>
        <p:nvSpPr>
          <p:cNvPr id="11" name="Text 7"/>
          <p:cNvSpPr/>
          <p:nvPr/>
        </p:nvSpPr>
        <p:spPr>
          <a:xfrm>
            <a:off x="4516821" y="2381250"/>
            <a:ext cx="31579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Lowers Electricity Costs</a:t>
            </a:r>
            <a:endParaRPr lang="en-US" sz="1800" dirty="0"/>
          </a:p>
        </p:txBody>
      </p:sp>
      <p:sp>
        <p:nvSpPr>
          <p:cNvPr id="12" name="Text 8"/>
          <p:cNvSpPr/>
          <p:nvPr/>
        </p:nvSpPr>
        <p:spPr>
          <a:xfrm>
            <a:off x="4516821" y="2778423"/>
            <a:ext cx="3157955" cy="846237"/>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Improved energy efficiency directly translates to reduced electricity bills for homeowners.</a:t>
            </a:r>
            <a:endParaRPr lang="en-US" sz="1350" dirty="0"/>
          </a:p>
        </p:txBody>
      </p:sp>
      <p:sp>
        <p:nvSpPr>
          <p:cNvPr id="13" name="Shape 9"/>
          <p:cNvSpPr/>
          <p:nvPr/>
        </p:nvSpPr>
        <p:spPr>
          <a:xfrm>
            <a:off x="8033740" y="1489174"/>
            <a:ext cx="3525948" cy="2601615"/>
          </a:xfrm>
          <a:prstGeom prst="roundRect">
            <a:avLst>
              <a:gd name="adj" fmla="val 2869"/>
            </a:avLst>
          </a:prstGeom>
          <a:solidFill>
            <a:srgbClr val="F9D2D6"/>
          </a:solidFill>
          <a:ln w="6350">
            <a:solidFill>
              <a:srgbClr val="DFB8BC"/>
            </a:solidFill>
            <a:prstDash val="solid"/>
          </a:ln>
        </p:spPr>
      </p:sp>
      <p:sp>
        <p:nvSpPr>
          <p:cNvPr id="14" name="Shape 10"/>
          <p:cNvSpPr/>
          <p:nvPr/>
        </p:nvSpPr>
        <p:spPr>
          <a:xfrm>
            <a:off x="8217786" y="1673225"/>
            <a:ext cx="533089" cy="533102"/>
          </a:xfrm>
          <a:prstGeom prst="ellipse">
            <a:avLst/>
          </a:prstGeom>
          <a:solidFill>
            <a:srgbClr val="DA1B2E"/>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4328" y="1819771"/>
            <a:ext cx="239905" cy="239911"/>
          </a:xfrm>
          <a:prstGeom prst="rect">
            <a:avLst/>
          </a:prstGeom>
        </p:spPr>
      </p:pic>
      <p:sp>
        <p:nvSpPr>
          <p:cNvPr id="16" name="Text 11"/>
          <p:cNvSpPr/>
          <p:nvPr/>
        </p:nvSpPr>
        <p:spPr>
          <a:xfrm>
            <a:off x="8217786" y="2381250"/>
            <a:ext cx="31578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Enhanced Convenience</a:t>
            </a:r>
            <a:endParaRPr lang="en-US" sz="1800" dirty="0"/>
          </a:p>
        </p:txBody>
      </p:sp>
      <p:sp>
        <p:nvSpPr>
          <p:cNvPr id="17" name="Text 12"/>
          <p:cNvSpPr/>
          <p:nvPr/>
        </p:nvSpPr>
        <p:spPr>
          <a:xfrm>
            <a:off x="8217786" y="2778423"/>
            <a:ext cx="3157855" cy="1128316"/>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Provides convenient automatic lighting control and enables remote monitoring and management from anywhere.</a:t>
            </a:r>
            <a:endParaRPr lang="en-US" sz="1350" dirty="0"/>
          </a:p>
        </p:txBody>
      </p:sp>
      <p:sp>
        <p:nvSpPr>
          <p:cNvPr id="18" name="Shape 13"/>
          <p:cNvSpPr/>
          <p:nvPr/>
        </p:nvSpPr>
        <p:spPr>
          <a:xfrm>
            <a:off x="631908" y="4265712"/>
            <a:ext cx="5376430" cy="2037457"/>
          </a:xfrm>
          <a:prstGeom prst="roundRect">
            <a:avLst>
              <a:gd name="adj" fmla="val 3664"/>
            </a:avLst>
          </a:prstGeom>
          <a:solidFill>
            <a:srgbClr val="F9D2D6"/>
          </a:solidFill>
          <a:ln w="6350">
            <a:solidFill>
              <a:srgbClr val="DFB8BC"/>
            </a:solidFill>
            <a:prstDash val="solid"/>
          </a:ln>
        </p:spPr>
      </p:sp>
      <p:sp>
        <p:nvSpPr>
          <p:cNvPr id="19" name="Shape 14"/>
          <p:cNvSpPr/>
          <p:nvPr/>
        </p:nvSpPr>
        <p:spPr>
          <a:xfrm>
            <a:off x="815955" y="4449762"/>
            <a:ext cx="533089" cy="533102"/>
          </a:xfrm>
          <a:prstGeom prst="ellipse">
            <a:avLst/>
          </a:prstGeom>
          <a:solidFill>
            <a:srgbClr val="DA1B2E"/>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2497" y="4596309"/>
            <a:ext cx="239905" cy="239911"/>
          </a:xfrm>
          <a:prstGeom prst="rect">
            <a:avLst/>
          </a:prstGeom>
        </p:spPr>
      </p:pic>
      <p:sp>
        <p:nvSpPr>
          <p:cNvPr id="21" name="Text 15"/>
          <p:cNvSpPr/>
          <p:nvPr/>
        </p:nvSpPr>
        <p:spPr>
          <a:xfrm>
            <a:off x="815955" y="5157788"/>
            <a:ext cx="5008338"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Sustainable Living</a:t>
            </a:r>
            <a:endParaRPr lang="en-US" sz="1800" dirty="0"/>
          </a:p>
        </p:txBody>
      </p:sp>
      <p:sp>
        <p:nvSpPr>
          <p:cNvPr id="22" name="Text 16"/>
          <p:cNvSpPr/>
          <p:nvPr/>
        </p:nvSpPr>
        <p:spPr>
          <a:xfrm>
            <a:off x="815955" y="5554960"/>
            <a:ext cx="5008338" cy="564158"/>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Encourages sustainable energy usage and supports intelligent energy management for a greener lifestyle.</a:t>
            </a:r>
            <a:endParaRPr lang="en-US" sz="1350" dirty="0"/>
          </a:p>
        </p:txBody>
      </p:sp>
      <p:sp>
        <p:nvSpPr>
          <p:cNvPr id="23" name="Shape 17"/>
          <p:cNvSpPr/>
          <p:nvPr/>
        </p:nvSpPr>
        <p:spPr>
          <a:xfrm>
            <a:off x="6183257" y="4265712"/>
            <a:ext cx="5376430" cy="2037457"/>
          </a:xfrm>
          <a:prstGeom prst="roundRect">
            <a:avLst>
              <a:gd name="adj" fmla="val 3664"/>
            </a:avLst>
          </a:prstGeom>
          <a:solidFill>
            <a:srgbClr val="F9D2D6"/>
          </a:solidFill>
          <a:ln w="6350">
            <a:solidFill>
              <a:srgbClr val="DFB8BC"/>
            </a:solidFill>
            <a:prstDash val="solid"/>
          </a:ln>
        </p:spPr>
      </p:sp>
      <p:sp>
        <p:nvSpPr>
          <p:cNvPr id="24" name="Shape 18"/>
          <p:cNvSpPr/>
          <p:nvPr/>
        </p:nvSpPr>
        <p:spPr>
          <a:xfrm>
            <a:off x="6367303" y="4449762"/>
            <a:ext cx="533089" cy="533102"/>
          </a:xfrm>
          <a:prstGeom prst="ellipse">
            <a:avLst/>
          </a:prstGeom>
          <a:solidFill>
            <a:srgbClr val="DA1B2E"/>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3846" y="4596309"/>
            <a:ext cx="239905" cy="239911"/>
          </a:xfrm>
          <a:prstGeom prst="rect">
            <a:avLst/>
          </a:prstGeom>
        </p:spPr>
      </p:pic>
      <p:sp>
        <p:nvSpPr>
          <p:cNvPr id="26" name="Text 19"/>
          <p:cNvSpPr/>
          <p:nvPr/>
        </p:nvSpPr>
        <p:spPr>
          <a:xfrm>
            <a:off x="6367303" y="5157788"/>
            <a:ext cx="5008338"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Better Smart-Home Experience</a:t>
            </a:r>
            <a:endParaRPr lang="en-US" sz="1800" dirty="0"/>
          </a:p>
        </p:txBody>
      </p:sp>
      <p:sp>
        <p:nvSpPr>
          <p:cNvPr id="27" name="Text 20"/>
          <p:cNvSpPr/>
          <p:nvPr/>
        </p:nvSpPr>
        <p:spPr>
          <a:xfrm>
            <a:off x="6367303" y="5554960"/>
            <a:ext cx="5008338" cy="564158"/>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Improves the overall smart-home experience through seamless, intelligent automation.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496491"/>
            <a:ext cx="10927878"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Applications and Scalability</a:t>
            </a:r>
            <a:endParaRPr lang="en-US" sz="1850" dirty="0"/>
          </a:p>
        </p:txBody>
      </p:sp>
      <p:sp>
        <p:nvSpPr>
          <p:cNvPr id="3" name="Text 1"/>
          <p:cNvSpPr/>
          <p:nvPr/>
        </p:nvSpPr>
        <p:spPr>
          <a:xfrm>
            <a:off x="631908" y="906066"/>
            <a:ext cx="5353809"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Application Areas</a:t>
            </a:r>
            <a:endParaRPr lang="en-US" sz="900" dirty="0"/>
          </a:p>
        </p:txBody>
      </p:sp>
      <p:pic>
        <p:nvPicPr>
          <p:cNvPr id="4" name="Image 0" descr="preencoded.png"/>
          <p:cNvPicPr>
            <a:picLocks noChangeAspect="1"/>
          </p:cNvPicPr>
          <p:nvPr/>
        </p:nvPicPr>
        <p:blipFill>
          <a:blip r:embed="rId3"/>
          <a:stretch>
            <a:fillRect/>
          </a:stretch>
        </p:blipFill>
        <p:spPr>
          <a:xfrm>
            <a:off x="631908" y="1105198"/>
            <a:ext cx="5353809" cy="5353943"/>
          </a:xfrm>
          <a:prstGeom prst="rect">
            <a:avLst/>
          </a:prstGeom>
        </p:spPr>
      </p:pic>
      <p:sp>
        <p:nvSpPr>
          <p:cNvPr id="5" name="Text 2"/>
          <p:cNvSpPr/>
          <p:nvPr/>
        </p:nvSpPr>
        <p:spPr>
          <a:xfrm>
            <a:off x="6212327" y="3234333"/>
            <a:ext cx="5353809"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Scalability by Design</a:t>
            </a:r>
            <a:endParaRPr lang="en-US" sz="900" dirty="0"/>
          </a:p>
        </p:txBody>
      </p:sp>
      <p:sp>
        <p:nvSpPr>
          <p:cNvPr id="6" name="Text 3"/>
          <p:cNvSpPr/>
          <p:nvPr/>
        </p:nvSpPr>
        <p:spPr>
          <a:xfrm>
            <a:off x="6212327" y="3427809"/>
            <a:ext cx="5353809" cy="21669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3B3535"/>
                </a:solidFill>
                <a:latin typeface="Sora Light" pitchFamily="34" charset="0"/>
                <a:ea typeface="Sora Light" pitchFamily="34" charset="-122"/>
                <a:cs typeface="Sora Light" pitchFamily="34" charset="-120"/>
              </a:rPr>
              <a:t>The system architecture is built to grow with the user's needs. Whether deployed in a single room or across an entire building, the platform maintains centralized monitoring and control without loss of performance.</a:t>
            </a:r>
            <a:endParaRPr lang="en-US" sz="700" dirty="0"/>
          </a:p>
        </p:txBody>
      </p:sp>
      <p:sp>
        <p:nvSpPr>
          <p:cNvPr id="7" name="Text 4"/>
          <p:cNvSpPr/>
          <p:nvPr/>
        </p:nvSpPr>
        <p:spPr>
          <a:xfrm>
            <a:off x="6212327" y="3685084"/>
            <a:ext cx="5353809" cy="480715"/>
          </a:xfrm>
          <a:prstGeom prst="rect">
            <a:avLst/>
          </a:prstGeom>
          <a:noFill/>
          <a:ln/>
        </p:spPr>
        <p:txBody>
          <a:bodyPr wrap="square" lIns="0" tIns="36109" rIns="0" bIns="0" rtlCol="0" anchor="t">
            <a:normAutofit/>
          </a:bodyPr>
          <a:lstStyle/>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Supports multiple rooms, sensors, and lighting devices simultaneously</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Centralized dashboard scales to manage any number of connected nodes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Wireless communication removes physical infrastructure constraints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Suitable for residential, institutional, and commercial environments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7698786" y="486271"/>
            <a:ext cx="4413834" cy="5885359"/>
          </a:xfrm>
          <a:prstGeom prst="rect">
            <a:avLst/>
          </a:prstGeom>
        </p:spPr>
      </p:pic>
      <p:sp>
        <p:nvSpPr>
          <p:cNvPr id="4" name="Text 1"/>
          <p:cNvSpPr/>
          <p:nvPr/>
        </p:nvSpPr>
        <p:spPr>
          <a:xfrm>
            <a:off x="631908" y="775891"/>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Conclusion and Future Scope</a:t>
            </a:r>
            <a:endParaRPr lang="en-US" sz="3250" dirty="0"/>
          </a:p>
        </p:txBody>
      </p:sp>
      <p:sp>
        <p:nvSpPr>
          <p:cNvPr id="5" name="Shape 2"/>
          <p:cNvSpPr/>
          <p:nvPr/>
        </p:nvSpPr>
        <p:spPr>
          <a:xfrm>
            <a:off x="631908" y="1502767"/>
            <a:ext cx="355393" cy="355402"/>
          </a:xfrm>
          <a:prstGeom prst="roundRect">
            <a:avLst>
              <a:gd name="adj" fmla="val 18670"/>
            </a:avLst>
          </a:prstGeom>
          <a:solidFill>
            <a:srgbClr val="F9D2D6"/>
          </a:solidFill>
          <a:ln w="6350">
            <a:solidFill>
              <a:srgbClr val="DFB8BC"/>
            </a:solidFill>
            <a:prstDash val="solid"/>
          </a:ln>
        </p:spPr>
      </p:sp>
      <p:sp>
        <p:nvSpPr>
          <p:cNvPr id="6" name="Text 3"/>
          <p:cNvSpPr/>
          <p:nvPr/>
        </p:nvSpPr>
        <p:spPr>
          <a:xfrm>
            <a:off x="684890" y="1524595"/>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1</a:t>
            </a:r>
            <a:endParaRPr lang="en-US" sz="1950" dirty="0"/>
          </a:p>
        </p:txBody>
      </p:sp>
      <p:sp>
        <p:nvSpPr>
          <p:cNvPr id="7" name="Text 4"/>
          <p:cNvSpPr/>
          <p:nvPr/>
        </p:nvSpPr>
        <p:spPr>
          <a:xfrm>
            <a:off x="1125509" y="1557040"/>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Intelligent Automation</a:t>
            </a:r>
            <a:endParaRPr lang="en-US" sz="1600" dirty="0"/>
          </a:p>
        </p:txBody>
      </p:sp>
      <p:sp>
        <p:nvSpPr>
          <p:cNvPr id="8" name="Text 5"/>
          <p:cNvSpPr/>
          <p:nvPr/>
        </p:nvSpPr>
        <p:spPr>
          <a:xfrm>
            <a:off x="1125509" y="1899642"/>
            <a:ext cx="5862392"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The system provides intelligent automatic lighting control based on real-time occupancy, powered by IoT sensors and wireless communication.</a:t>
            </a:r>
            <a:endParaRPr lang="en-US" sz="1200" dirty="0"/>
          </a:p>
        </p:txBody>
      </p:sp>
      <p:sp>
        <p:nvSpPr>
          <p:cNvPr id="9" name="Shape 6"/>
          <p:cNvSpPr/>
          <p:nvPr/>
        </p:nvSpPr>
        <p:spPr>
          <a:xfrm>
            <a:off x="631908" y="2649934"/>
            <a:ext cx="355393" cy="355402"/>
          </a:xfrm>
          <a:prstGeom prst="roundRect">
            <a:avLst>
              <a:gd name="adj" fmla="val 18670"/>
            </a:avLst>
          </a:prstGeom>
          <a:solidFill>
            <a:srgbClr val="F9D2D6"/>
          </a:solidFill>
          <a:ln w="6350">
            <a:solidFill>
              <a:srgbClr val="DFB8BC"/>
            </a:solidFill>
            <a:prstDash val="solid"/>
          </a:ln>
        </p:spPr>
      </p:sp>
      <p:sp>
        <p:nvSpPr>
          <p:cNvPr id="10" name="Text 7"/>
          <p:cNvSpPr/>
          <p:nvPr/>
        </p:nvSpPr>
        <p:spPr>
          <a:xfrm>
            <a:off x="684890" y="2671763"/>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2</a:t>
            </a:r>
            <a:endParaRPr lang="en-US" sz="1950" dirty="0"/>
          </a:p>
        </p:txBody>
      </p:sp>
      <p:sp>
        <p:nvSpPr>
          <p:cNvPr id="11" name="Text 8"/>
          <p:cNvSpPr/>
          <p:nvPr/>
        </p:nvSpPr>
        <p:spPr>
          <a:xfrm>
            <a:off x="1125509" y="2704207"/>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Efficiency</a:t>
            </a:r>
            <a:endParaRPr lang="en-US" sz="1600" dirty="0"/>
          </a:p>
        </p:txBody>
      </p:sp>
      <p:sp>
        <p:nvSpPr>
          <p:cNvPr id="12" name="Text 9"/>
          <p:cNvSpPr/>
          <p:nvPr/>
        </p:nvSpPr>
        <p:spPr>
          <a:xfrm>
            <a:off x="1125509" y="3046809"/>
            <a:ext cx="5862392"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Energy monitoring and analytics help reduce unnecessary electricity consumption, promoting sustainable and cost-effective smart living.</a:t>
            </a:r>
            <a:endParaRPr lang="en-US" sz="1200" dirty="0"/>
          </a:p>
        </p:txBody>
      </p:sp>
      <p:sp>
        <p:nvSpPr>
          <p:cNvPr id="13" name="Shape 10"/>
          <p:cNvSpPr/>
          <p:nvPr/>
        </p:nvSpPr>
        <p:spPr>
          <a:xfrm>
            <a:off x="631908" y="3797102"/>
            <a:ext cx="355393" cy="355402"/>
          </a:xfrm>
          <a:prstGeom prst="roundRect">
            <a:avLst>
              <a:gd name="adj" fmla="val 18670"/>
            </a:avLst>
          </a:prstGeom>
          <a:solidFill>
            <a:srgbClr val="F9D2D6"/>
          </a:solidFill>
          <a:ln w="6350">
            <a:solidFill>
              <a:srgbClr val="DFB8BC"/>
            </a:solidFill>
            <a:prstDash val="solid"/>
          </a:ln>
        </p:spPr>
      </p:sp>
      <p:sp>
        <p:nvSpPr>
          <p:cNvPr id="14" name="Text 11"/>
          <p:cNvSpPr/>
          <p:nvPr/>
        </p:nvSpPr>
        <p:spPr>
          <a:xfrm>
            <a:off x="684890" y="3818930"/>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3</a:t>
            </a:r>
            <a:endParaRPr lang="en-US" sz="1950" dirty="0"/>
          </a:p>
        </p:txBody>
      </p:sp>
      <p:sp>
        <p:nvSpPr>
          <p:cNvPr id="15" name="Text 12"/>
          <p:cNvSpPr/>
          <p:nvPr/>
        </p:nvSpPr>
        <p:spPr>
          <a:xfrm>
            <a:off x="1125509" y="3851374"/>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User Convenience</a:t>
            </a:r>
            <a:endParaRPr lang="en-US" sz="1600" dirty="0"/>
          </a:p>
        </p:txBody>
      </p:sp>
      <p:sp>
        <p:nvSpPr>
          <p:cNvPr id="16" name="Text 13"/>
          <p:cNvSpPr/>
          <p:nvPr/>
        </p:nvSpPr>
        <p:spPr>
          <a:xfrm>
            <a:off x="1125509" y="4193977"/>
            <a:ext cx="5862392" cy="71080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Remote control and a centralized dashboard improve user convenience while keeping the system secure and scalable across different environments.</a:t>
            </a:r>
            <a:endParaRPr lang="en-US" sz="1200" dirty="0"/>
          </a:p>
        </p:txBody>
      </p:sp>
      <p:sp>
        <p:nvSpPr>
          <p:cNvPr id="17" name="Text 14"/>
          <p:cNvSpPr/>
          <p:nvPr/>
        </p:nvSpPr>
        <p:spPr>
          <a:xfrm>
            <a:off x="868837" y="5215731"/>
            <a:ext cx="6119064" cy="710803"/>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3B3535"/>
                </a:solidFill>
                <a:latin typeface="Sora Bold" pitchFamily="34" charset="0"/>
                <a:ea typeface="Sora Bold" pitchFamily="34" charset="-122"/>
                <a:cs typeface="Sora Bold" pitchFamily="34" charset="-120"/>
              </a:rPr>
              <a:t>Overall Objective:</a:t>
            </a:r>
            <a:r>
              <a:rPr lang="en-US" sz="1200" dirty="0">
                <a:solidFill>
                  <a:srgbClr val="3B3535"/>
                </a:solidFill>
                <a:latin typeface="Sora Light" pitchFamily="34" charset="0"/>
                <a:ea typeface="Sora Light" pitchFamily="34" charset="-122"/>
                <a:cs typeface="Sora Light" pitchFamily="34" charset="-120"/>
              </a:rPr>
              <a:t> To improve energy efficiency, reduce electricity wastage, enhance user convenience, and support sustainable smart living through intelligent lighting automation.</a:t>
            </a:r>
            <a:endParaRPr lang="en-US" sz="1200" dirty="0"/>
          </a:p>
        </p:txBody>
      </p:sp>
      <p:sp>
        <p:nvSpPr>
          <p:cNvPr id="18" name="Shape 15"/>
          <p:cNvSpPr/>
          <p:nvPr/>
        </p:nvSpPr>
        <p:spPr>
          <a:xfrm>
            <a:off x="631908" y="5060255"/>
            <a:ext cx="19050" cy="1021755"/>
          </a:xfrm>
          <a:prstGeom prst="roundRect">
            <a:avLst>
              <a:gd name="adj" fmla="val 49999"/>
            </a:avLst>
          </a:prstGeom>
          <a:solidFill>
            <a:srgbClr val="DA1B2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808</Words>
  <Application>Microsoft Office PowerPoint</Application>
  <PresentationFormat>Widescreen</PresentationFormat>
  <Paragraphs>110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Sora SemiBold</vt:lpstr>
      <vt:lpstr>Sora Bold</vt:lpstr>
      <vt:lpstr>Arial</vt:lpstr>
      <vt:lpstr>Sora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LOKESH VARMA</dc:creator>
  <cp:lastModifiedBy>LOKESH VARMA</cp:lastModifiedBy>
  <cp:revision>5</cp:revision>
  <dcterms:created xsi:type="dcterms:W3CDTF">2026-08-19T05:30:23Z</dcterms:created>
  <dcterms:modified xsi:type="dcterms:W3CDTF">2026-10-06T08:22:30Z</dcterms:modified>
</cp:coreProperties>
</file>